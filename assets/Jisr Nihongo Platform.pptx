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1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8" r:id="rId9"/>
    <p:sldId id="269" r:id="rId10"/>
    <p:sldId id="270" r:id="rId11"/>
    <p:sldId id="271" r:id="rId12"/>
    <p:sldId id="27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7A1"/>
    <a:srgbClr val="4A90E2"/>
    <a:srgbClr val="2E7D63"/>
    <a:srgbClr val="F2C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96544" autoAdjust="0"/>
  </p:normalViewPr>
  <p:slideViewPr>
    <p:cSldViewPr snapToGrid="0" snapToObjects="1">
      <p:cViewPr>
        <p:scale>
          <a:sx n="116" d="100"/>
          <a:sy n="116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00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64556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Jisr 日本語プラットフォーム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dhelalmalki/jisr-nihongo-platfor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513832"/>
            <a:ext cx="12191695" cy="1344168"/>
          </a:xfrm>
          <a:prstGeom prst="rect">
            <a:avLst/>
          </a:prstGeom>
          <a:solidFill>
            <a:srgbClr val="0B1F33">
              <a:alpha val="87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640080" y="5733288"/>
            <a:ext cx="10927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Jisr is an AI-powered EdTech platform connecting Japanese-language instructors and learners through structured courses, progress tracking, verifiable certificates, reviews, and AI study tools.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F5B52"/>
                </a:solidFill>
              </a:rPr>
              <a:t>01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→ The Opportunity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learning journey is still fragmented across access, instruction, progress, and support.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288380" cy="308465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0061" y="1939885"/>
            <a:ext cx="1591057" cy="1579194"/>
          </a:xfrm>
          <a:prstGeom prst="ellipse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3456432" cy="308465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63605" y="1933996"/>
            <a:ext cx="1608011" cy="1579194"/>
          </a:xfrm>
          <a:prstGeom prst="ellipse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211312" y="1874519"/>
            <a:ext cx="3456432" cy="3084655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71695" y="1947672"/>
            <a:ext cx="1635443" cy="156551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9ED032F-68B3-3B82-DC45-6DF7BBB2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61" y="2020590"/>
            <a:ext cx="1624967" cy="141778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95D3206-62DF-1125-0274-89D6A054F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376" y="2020590"/>
            <a:ext cx="1736468" cy="10938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0A9A529-7DBA-B161-0922-F6C37DE6F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589" y="1874519"/>
            <a:ext cx="1165180" cy="176404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7C0B417-AC5D-C832-4EE4-160CAF41326C}"/>
              </a:ext>
            </a:extLst>
          </p:cNvPr>
          <p:cNvSpPr txBox="1"/>
          <p:nvPr/>
        </p:nvSpPr>
        <p:spPr>
          <a:xfrm>
            <a:off x="620061" y="3835575"/>
            <a:ext cx="3174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a typeface="Yu Gothic" panose="020B0400000000000000" pitchFamily="34" charset="-128"/>
              </a:rPr>
              <a:t>Limited availability of local EdTech platforms using AI for Japanese language learning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567F18-84A7-8953-3295-5E0B967D96A3}"/>
              </a:ext>
            </a:extLst>
          </p:cNvPr>
          <p:cNvSpPr txBox="1"/>
          <p:nvPr/>
        </p:nvSpPr>
        <p:spPr>
          <a:xfrm>
            <a:off x="4328321" y="3660082"/>
            <a:ext cx="34564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Changes in scholarship pathways to Japan, alongside growing demand for Japanese language education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D53D95-36ED-CF98-E878-C90F556F8D54}"/>
              </a:ext>
            </a:extLst>
          </p:cNvPr>
          <p:cNvSpPr txBox="1"/>
          <p:nvPr/>
        </p:nvSpPr>
        <p:spPr>
          <a:xfrm>
            <a:off x="8234157" y="3697076"/>
            <a:ext cx="3345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Gap between Japanese language instructors and learners seeking accessible learning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F5B52"/>
                </a:solidFill>
              </a:rPr>
              <a:t>02 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 — Jisr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One platform that connects people, learning workflows, and AI assistance around Japanese.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154680" cy="324612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86384" y="20756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41248" y="213969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LEARNERS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95528" y="2542032"/>
            <a:ext cx="347472" cy="347472"/>
          </a:xfrm>
          <a:prstGeom prst="ellipse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95528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1016" y="253288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</a:rPr>
              <a:t>Discover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71016" y="27797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</a:rPr>
              <a:t>Browse by JLPT level, instructor, or price.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95528" y="3383280"/>
            <a:ext cx="347472" cy="347472"/>
          </a:xfrm>
          <a:prstGeom prst="ellipse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5528" y="33924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71016" y="337413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</a:rPr>
              <a:t>Enroll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71016" y="36210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</a:rPr>
              <a:t>Join a course and follow structured lessons.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95528" y="4224528"/>
            <a:ext cx="347472" cy="34747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95528" y="4233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71016" y="421538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</a:rPr>
              <a:t>Progress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71016" y="44622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</a:rPr>
              <a:t>Complete learning and earn a verifiable certificate.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3977640" y="3822192"/>
            <a:ext cx="4114800" cy="0"/>
          </a:xfrm>
          <a:prstGeom prst="line">
            <a:avLst/>
          </a:prstGeom>
          <a:noFill/>
          <a:ln w="50800">
            <a:solidFill>
              <a:srgbClr val="0B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93792" y="34381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5B52"/>
                </a:solidFill>
              </a:rPr>
              <a:t>the bridge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89158" y="3350658"/>
            <a:ext cx="338328" cy="0"/>
          </a:xfrm>
          <a:prstGeom prst="line">
            <a:avLst/>
          </a:prstGeom>
          <a:noFill/>
          <a:ln w="31750">
            <a:solidFill>
              <a:srgbClr val="EF5B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009916" y="3355848"/>
            <a:ext cx="365760" cy="0"/>
          </a:xfrm>
          <a:prstGeom prst="line">
            <a:avLst/>
          </a:prstGeom>
          <a:noFill/>
          <a:ln w="31750">
            <a:solidFill>
              <a:srgbClr val="EF5B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430768" y="1874520"/>
            <a:ext cx="3191256" cy="3246120"/>
          </a:xfrm>
          <a:prstGeom prst="roundRect">
            <a:avLst>
              <a:gd name="adj" fmla="val 286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650224" y="2075688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723376" y="213969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INSTRUCTORS 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68512" y="2542032"/>
            <a:ext cx="347472" cy="34747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668512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0" y="253288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</a:rPr>
              <a:t>Instructors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44000" y="27797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</a:rPr>
              <a:t>Publish courses, structured lessons, and teaching support.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8668512" y="3383280"/>
            <a:ext cx="347472" cy="347472"/>
          </a:xfrm>
          <a:prstGeom prst="ellipse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668512" y="33924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0" y="337413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</a:rPr>
              <a:t>AI services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44000" y="36210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</a:rPr>
              <a:t>13 specialized learning tools from Kanji help to study plans.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668512" y="4224528"/>
            <a:ext cx="347472" cy="347472"/>
          </a:xfrm>
          <a:prstGeom prst="ellipse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68512" y="4233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0" y="421538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</a:rPr>
              <a:t>Trust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144000" y="44622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</a:rPr>
              <a:t>Verified freelance certificate details, reviews, and public certificate verification.</a:t>
            </a:r>
            <a:endParaRPr lang="en-US" sz="103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9841386-52F1-F2DE-6115-9E9349BCC2F0}"/>
              </a:ext>
            </a:extLst>
          </p:cNvPr>
          <p:cNvGrpSpPr/>
          <p:nvPr/>
        </p:nvGrpSpPr>
        <p:grpSpPr>
          <a:xfrm>
            <a:off x="3612970" y="5422391"/>
            <a:ext cx="3313536" cy="1078992"/>
            <a:chOff x="2399723" y="5422391"/>
            <a:chExt cx="3313536" cy="107899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5B09E0A-2DAB-057C-F2C6-6E085CB74D22}"/>
                </a:ext>
              </a:extLst>
            </p:cNvPr>
            <p:cNvGrpSpPr/>
            <p:nvPr/>
          </p:nvGrpSpPr>
          <p:grpSpPr>
            <a:xfrm>
              <a:off x="2399723" y="5422391"/>
              <a:ext cx="2302888" cy="1078992"/>
              <a:chOff x="4160520" y="5440680"/>
              <a:chExt cx="3429000" cy="1078992"/>
            </a:xfrm>
          </p:grpSpPr>
          <p:sp>
            <p:nvSpPr>
              <p:cNvPr id="65" name="Shape 44">
                <a:extLst>
                  <a:ext uri="{FF2B5EF4-FFF2-40B4-BE49-F238E27FC236}">
                    <a16:creationId xmlns:a16="http://schemas.microsoft.com/office/drawing/2014/main" id="{8B472588-FC70-E946-F5F1-8E3FBD86E43D}"/>
                  </a:ext>
                </a:extLst>
              </p:cNvPr>
              <p:cNvSpPr/>
              <p:nvPr/>
            </p:nvSpPr>
            <p:spPr>
              <a:xfrm>
                <a:off x="4160520" y="5440680"/>
                <a:ext cx="3429000" cy="1078992"/>
              </a:xfrm>
              <a:prstGeom prst="roundRect">
                <a:avLst>
                  <a:gd name="adj" fmla="val 8475"/>
                </a:avLst>
              </a:prstGeom>
              <a:solidFill>
                <a:srgbClr val="FFFFFF"/>
              </a:solidFill>
              <a:ln w="12700">
                <a:solidFill>
                  <a:srgbClr val="D9E1E8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Shape 45">
                <a:extLst>
                  <a:ext uri="{FF2B5EF4-FFF2-40B4-BE49-F238E27FC236}">
                    <a16:creationId xmlns:a16="http://schemas.microsoft.com/office/drawing/2014/main" id="{63FAEA55-22FA-FC94-9DE8-93BAC5312FD3}"/>
                  </a:ext>
                </a:extLst>
              </p:cNvPr>
              <p:cNvSpPr/>
              <p:nvPr/>
            </p:nvSpPr>
            <p:spPr>
              <a:xfrm>
                <a:off x="4160520" y="5440680"/>
                <a:ext cx="73152" cy="10789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EF5B5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4" name="Text 42"/>
            <p:cNvSpPr/>
            <p:nvPr/>
          </p:nvSpPr>
          <p:spPr>
            <a:xfrm>
              <a:off x="2604299" y="5518114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0B1F33"/>
                  </a:solidFill>
                </a:rPr>
                <a:t>15</a:t>
              </a:r>
              <a:endParaRPr lang="en-US" sz="28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604299" y="6108025"/>
              <a:ext cx="31089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67085"/>
                  </a:solidFill>
                </a:rPr>
                <a:t>purpose-built core endpoints</a:t>
              </a:r>
              <a:endParaRPr lang="en-US" sz="105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AF978CC-EB0F-CF65-C2FC-516452DDD81F}"/>
              </a:ext>
            </a:extLst>
          </p:cNvPr>
          <p:cNvGrpSpPr/>
          <p:nvPr/>
        </p:nvGrpSpPr>
        <p:grpSpPr>
          <a:xfrm>
            <a:off x="4889187" y="4127253"/>
            <a:ext cx="3303609" cy="1078992"/>
            <a:chOff x="4840059" y="4215384"/>
            <a:chExt cx="3303609" cy="107899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C5FE75E-3281-F36A-BD8D-5CCEC690CC72}"/>
                </a:ext>
              </a:extLst>
            </p:cNvPr>
            <p:cNvGrpSpPr/>
            <p:nvPr/>
          </p:nvGrpSpPr>
          <p:grpSpPr>
            <a:xfrm>
              <a:off x="4840059" y="4215384"/>
              <a:ext cx="2302888" cy="1078992"/>
              <a:chOff x="4160520" y="5440680"/>
              <a:chExt cx="3429000" cy="1078992"/>
            </a:xfrm>
          </p:grpSpPr>
          <p:sp>
            <p:nvSpPr>
              <p:cNvPr id="46" name="Shape 44"/>
              <p:cNvSpPr/>
              <p:nvPr/>
            </p:nvSpPr>
            <p:spPr>
              <a:xfrm>
                <a:off x="4160520" y="5440680"/>
                <a:ext cx="3429000" cy="1078992"/>
              </a:xfrm>
              <a:prstGeom prst="roundRect">
                <a:avLst>
                  <a:gd name="adj" fmla="val 8475"/>
                </a:avLst>
              </a:prstGeom>
              <a:solidFill>
                <a:srgbClr val="FFFFFF"/>
              </a:solidFill>
              <a:ln w="12700">
                <a:solidFill>
                  <a:srgbClr val="D9E1E8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4160520" y="5440680"/>
                <a:ext cx="73152" cy="1078992"/>
              </a:xfrm>
              <a:prstGeom prst="rect">
                <a:avLst/>
              </a:prstGeom>
              <a:solidFill>
                <a:srgbClr val="EF5B52"/>
              </a:solidFill>
              <a:ln w="12700">
                <a:solidFill>
                  <a:srgbClr val="EF5B5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8" name="Text 46"/>
            <p:cNvSpPr/>
            <p:nvPr/>
          </p:nvSpPr>
          <p:spPr>
            <a:xfrm>
              <a:off x="5034708" y="43205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0B1F33"/>
                  </a:solidFill>
                </a:rPr>
                <a:t>69</a:t>
              </a:r>
              <a:endParaRPr lang="en-US" sz="28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034708" y="4946904"/>
              <a:ext cx="31089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67085"/>
                  </a:solidFill>
                </a:rPr>
                <a:t>API Endpoints</a:t>
              </a:r>
              <a:endParaRPr lang="en-US" sz="105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5BDC5B6-912F-AE51-FBA4-7D1ADC1DA9D1}"/>
              </a:ext>
            </a:extLst>
          </p:cNvPr>
          <p:cNvGrpSpPr/>
          <p:nvPr/>
        </p:nvGrpSpPr>
        <p:grpSpPr>
          <a:xfrm>
            <a:off x="6401377" y="5412315"/>
            <a:ext cx="3747885" cy="1078992"/>
            <a:chOff x="5186503" y="5352494"/>
            <a:chExt cx="3747885" cy="107899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2309944-D0ED-BC4A-AD3C-1968157E0336}"/>
                </a:ext>
              </a:extLst>
            </p:cNvPr>
            <p:cNvGrpSpPr/>
            <p:nvPr/>
          </p:nvGrpSpPr>
          <p:grpSpPr>
            <a:xfrm>
              <a:off x="5186503" y="5352494"/>
              <a:ext cx="2302888" cy="1078992"/>
              <a:chOff x="4160520" y="5440680"/>
              <a:chExt cx="3429000" cy="1078992"/>
            </a:xfrm>
          </p:grpSpPr>
          <p:sp>
            <p:nvSpPr>
              <p:cNvPr id="68" name="Shape 44">
                <a:extLst>
                  <a:ext uri="{FF2B5EF4-FFF2-40B4-BE49-F238E27FC236}">
                    <a16:creationId xmlns:a16="http://schemas.microsoft.com/office/drawing/2014/main" id="{38884A78-7B92-1E5A-0ABF-58DCBDB1AC74}"/>
                  </a:ext>
                </a:extLst>
              </p:cNvPr>
              <p:cNvSpPr/>
              <p:nvPr/>
            </p:nvSpPr>
            <p:spPr>
              <a:xfrm>
                <a:off x="4160520" y="5440680"/>
                <a:ext cx="3429000" cy="1078992"/>
              </a:xfrm>
              <a:prstGeom prst="roundRect">
                <a:avLst>
                  <a:gd name="adj" fmla="val 8475"/>
                </a:avLst>
              </a:prstGeom>
              <a:solidFill>
                <a:srgbClr val="FFFFFF"/>
              </a:solidFill>
              <a:ln w="12700">
                <a:solidFill>
                  <a:srgbClr val="D9E1E8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Shape 45">
                <a:extLst>
                  <a:ext uri="{FF2B5EF4-FFF2-40B4-BE49-F238E27FC236}">
                    <a16:creationId xmlns:a16="http://schemas.microsoft.com/office/drawing/2014/main" id="{5E3502CF-5A70-D10E-5E0B-85AA1D76E676}"/>
                  </a:ext>
                </a:extLst>
              </p:cNvPr>
              <p:cNvSpPr/>
              <p:nvPr/>
            </p:nvSpPr>
            <p:spPr>
              <a:xfrm>
                <a:off x="4160520" y="5440680"/>
                <a:ext cx="73152" cy="1078992"/>
              </a:xfrm>
              <a:prstGeom prst="rect">
                <a:avLst/>
              </a:prstGeom>
              <a:solidFill>
                <a:srgbClr val="5FA7A1"/>
              </a:solidFill>
              <a:ln w="12700">
                <a:solidFill>
                  <a:srgbClr val="EF5B5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52" name="Text 50"/>
            <p:cNvSpPr/>
            <p:nvPr/>
          </p:nvSpPr>
          <p:spPr>
            <a:xfrm>
              <a:off x="5386516" y="5472959"/>
              <a:ext cx="354787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0B1F33"/>
                  </a:solidFill>
                </a:rPr>
                <a:t>14</a:t>
              </a:r>
              <a:endParaRPr lang="en-US" sz="28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5294376" y="6098005"/>
              <a:ext cx="35478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67085"/>
                  </a:solidFill>
                </a:rPr>
                <a:t>extra endpoints (13 AI + 1 WhatsApp)</a:t>
              </a:r>
              <a:endParaRPr lang="en-US" sz="1050" dirty="0"/>
            </a:p>
          </p:txBody>
        </p:sp>
      </p:grp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3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A70A38E-EF8E-4262-CED6-D33665D04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659" y="1775007"/>
            <a:ext cx="2823514" cy="179965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6C8BA0D-096C-B909-B709-A3271520D7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94" t="11240" r="9666" b="10894"/>
          <a:stretch>
            <a:fillRect/>
          </a:stretch>
        </p:blipFill>
        <p:spPr>
          <a:xfrm>
            <a:off x="9366961" y="41806"/>
            <a:ext cx="1564602" cy="15126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F5B52"/>
                </a:solidFill>
              </a:rPr>
              <a:t>03 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and Tools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A conventional, maintainable Spring architecture with clear separation of concerns.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204825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API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79704" y="4848791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Templates / Messaging</a:t>
            </a:r>
            <a:endParaRPr lang="en-US" sz="108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5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BCEC4F9-D760-54A3-2F14-F02E1E23D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745" y="1347887"/>
            <a:ext cx="2926081" cy="164091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0418BA5-0E46-3EEB-6999-52B786007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01" y="2358009"/>
            <a:ext cx="3888486" cy="166649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EAB1664-2040-E41B-AA9E-A3504F27A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552" y="2151155"/>
            <a:ext cx="1640918" cy="164091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A7BDEF0-1528-9D81-8144-71DC7913D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805" y="1866771"/>
            <a:ext cx="3106865" cy="174936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0373F2C-3BDC-41B0-3FD1-FF23D4AE0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710642"/>
            <a:ext cx="2114823" cy="105591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AA7B27D-6AF6-E3EF-A105-A39C4242C6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3700" y="4341898"/>
            <a:ext cx="997849" cy="99784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3445645-2FA9-4A9C-D0B3-008C8576F4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1951" y="5098360"/>
            <a:ext cx="1069230" cy="106923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A1DAFF1-A7BF-F410-149D-FAE77E916F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3699" y="5239461"/>
            <a:ext cx="2676767" cy="103785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06ADBA2-45CC-A991-FFB5-ED44C1C1D9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7066" y="5285232"/>
            <a:ext cx="1856232" cy="79552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E12009F8-92BE-416A-A52E-923C77D5E3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641" y="4881074"/>
            <a:ext cx="2194997" cy="1095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F5B52"/>
                </a:solidFill>
              </a:rPr>
              <a:t>04  INTEGRATIONS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Integrations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API stays responsive while external communication happens after a successful database commit.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246120" cy="3529584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4360" y="1911096"/>
            <a:ext cx="3246120" cy="3529584"/>
          </a:xfrm>
          <a:prstGeom prst="roundRect">
            <a:avLst>
              <a:gd name="adj" fmla="val 2817"/>
            </a:avLst>
          </a:prstGeom>
          <a:solidFill>
            <a:srgbClr val="CCD6E1">
              <a:alpha val="18000"/>
            </a:srgbClr>
          </a:solidFill>
          <a:ln w="12700">
            <a:solidFill>
              <a:srgbClr val="CCD6E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246120" cy="91440"/>
          </a:xfrm>
          <a:prstGeom prst="rect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Gmail + Thymeleaf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795528" y="2724912"/>
            <a:ext cx="301752" cy="301752"/>
          </a:xfrm>
          <a:prstGeom prst="ellipse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5528" y="273405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715768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Registration → </a:t>
            </a:r>
            <a:r>
              <a:rPr lang="en-US" sz="1060" dirty="0">
                <a:solidFill>
                  <a:srgbClr val="0070C0"/>
                </a:solidFill>
              </a:rPr>
              <a:t>welcome email</a:t>
            </a:r>
          </a:p>
        </p:txBody>
      </p:sp>
      <p:sp>
        <p:nvSpPr>
          <p:cNvPr id="13" name="Shape 11"/>
          <p:cNvSpPr/>
          <p:nvPr/>
        </p:nvSpPr>
        <p:spPr>
          <a:xfrm>
            <a:off x="795528" y="3383280"/>
            <a:ext cx="301752" cy="301752"/>
          </a:xfrm>
          <a:prstGeom prst="ellipse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5528" y="3392424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374136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Enrollment → </a:t>
            </a:r>
            <a:r>
              <a:rPr lang="en-US" sz="1060" dirty="0">
                <a:solidFill>
                  <a:srgbClr val="0070C0"/>
                </a:solidFill>
              </a:rPr>
              <a:t>confirmation email</a:t>
            </a:r>
          </a:p>
        </p:txBody>
      </p:sp>
      <p:sp>
        <p:nvSpPr>
          <p:cNvPr id="16" name="Shape 14"/>
          <p:cNvSpPr/>
          <p:nvPr/>
        </p:nvSpPr>
        <p:spPr>
          <a:xfrm>
            <a:off x="795528" y="4041648"/>
            <a:ext cx="301752" cy="301752"/>
          </a:xfrm>
          <a:prstGeom prst="ellipse">
            <a:avLst/>
          </a:prstGeom>
          <a:solidFill>
            <a:srgbClr val="EF5B52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5528" y="4050792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4032504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Completion → </a:t>
            </a:r>
            <a:r>
              <a:rPr lang="en-US" sz="1060" dirty="0">
                <a:solidFill>
                  <a:srgbClr val="0070C0"/>
                </a:solidFill>
              </a:rPr>
              <a:t>certificate email</a:t>
            </a:r>
          </a:p>
        </p:txBody>
      </p:sp>
      <p:sp>
        <p:nvSpPr>
          <p:cNvPr id="19" name="Shape 17"/>
          <p:cNvSpPr/>
          <p:nvPr/>
        </p:nvSpPr>
        <p:spPr>
          <a:xfrm>
            <a:off x="795528" y="4745736"/>
            <a:ext cx="2788920" cy="0"/>
          </a:xfrm>
          <a:prstGeom prst="line">
            <a:avLst/>
          </a:prstGeom>
          <a:noFill/>
          <a:ln w="1143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86384" y="48920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@TransactionalEventListener(AFTER_COMMIT) + @Async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51376" y="1874520"/>
            <a:ext cx="3246120" cy="3529584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178808" y="1911096"/>
            <a:ext cx="3246120" cy="3529584"/>
          </a:xfrm>
          <a:prstGeom prst="roundRect">
            <a:avLst>
              <a:gd name="adj" fmla="val 2817"/>
            </a:avLst>
          </a:prstGeom>
          <a:solidFill>
            <a:srgbClr val="CCD6E1">
              <a:alpha val="18000"/>
            </a:srgbClr>
          </a:solidFill>
          <a:ln w="12700">
            <a:solidFill>
              <a:srgbClr val="CCD6E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151376" y="1874520"/>
            <a:ext cx="3246120" cy="91440"/>
          </a:xfrm>
          <a:prstGeom prst="rect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361688" y="215798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UltraMsg / WhatsApp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4379976" y="2724912"/>
            <a:ext cx="301752" cy="301752"/>
          </a:xfrm>
          <a:prstGeom prst="ellipse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379976" y="273405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91456" y="2715768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Registration → </a:t>
            </a:r>
            <a:r>
              <a:rPr lang="en-US" sz="1060" dirty="0">
                <a:solidFill>
                  <a:srgbClr val="0070C0"/>
                </a:solidFill>
              </a:rPr>
              <a:t>welcome WhatsApp</a:t>
            </a:r>
          </a:p>
        </p:txBody>
      </p:sp>
      <p:sp>
        <p:nvSpPr>
          <p:cNvPr id="28" name="Shape 26"/>
          <p:cNvSpPr/>
          <p:nvPr/>
        </p:nvSpPr>
        <p:spPr>
          <a:xfrm>
            <a:off x="4379976" y="3383280"/>
            <a:ext cx="301752" cy="301752"/>
          </a:xfrm>
          <a:prstGeom prst="ellipse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379976" y="3392424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91456" y="3374136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Phone change → </a:t>
            </a:r>
            <a:r>
              <a:rPr lang="en-US" sz="1060" dirty="0">
                <a:solidFill>
                  <a:srgbClr val="0070C0"/>
                </a:solidFill>
              </a:rPr>
              <a:t>confirmation message</a:t>
            </a:r>
          </a:p>
        </p:txBody>
      </p:sp>
      <p:sp>
        <p:nvSpPr>
          <p:cNvPr id="31" name="Shape 29"/>
          <p:cNvSpPr/>
          <p:nvPr/>
        </p:nvSpPr>
        <p:spPr>
          <a:xfrm>
            <a:off x="4379976" y="4041648"/>
            <a:ext cx="301752" cy="301752"/>
          </a:xfrm>
          <a:prstGeom prst="ellipse">
            <a:avLst/>
          </a:prstGeom>
          <a:solidFill>
            <a:srgbClr val="5FA7A1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379976" y="4050792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91456" y="4032504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E.164 phone validation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379976" y="4745736"/>
            <a:ext cx="2788920" cy="0"/>
          </a:xfrm>
          <a:prstGeom prst="line">
            <a:avLst/>
          </a:prstGeom>
          <a:noFill/>
          <a:ln w="1143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370832" y="48920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async WhatsApp task executor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35824" y="1874520"/>
            <a:ext cx="3246120" cy="3529584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763256" y="1911096"/>
            <a:ext cx="3246120" cy="3529584"/>
          </a:xfrm>
          <a:prstGeom prst="roundRect">
            <a:avLst>
              <a:gd name="adj" fmla="val 2817"/>
            </a:avLst>
          </a:prstGeom>
          <a:solidFill>
            <a:srgbClr val="CCD6E1">
              <a:alpha val="18000"/>
            </a:srgbClr>
          </a:solidFill>
          <a:ln w="12700">
            <a:solidFill>
              <a:srgbClr val="CCD6E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735824" y="1874520"/>
            <a:ext cx="3246120" cy="914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946136" y="215798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OpenRouter AI Gateway</a:t>
            </a:r>
            <a:endParaRPr lang="en-US" sz="1520" dirty="0"/>
          </a:p>
        </p:txBody>
      </p:sp>
      <p:sp>
        <p:nvSpPr>
          <p:cNvPr id="40" name="Shape 38"/>
          <p:cNvSpPr/>
          <p:nvPr/>
        </p:nvSpPr>
        <p:spPr>
          <a:xfrm>
            <a:off x="7964424" y="2724912"/>
            <a:ext cx="301752" cy="30175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964424" y="273405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375904" y="2715768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0070C0"/>
                </a:solidFill>
              </a:rPr>
              <a:t>13</a:t>
            </a:r>
            <a:r>
              <a:rPr lang="en-US" sz="1060" dirty="0">
                <a:solidFill>
                  <a:srgbClr val="263746"/>
                </a:solidFill>
              </a:rPr>
              <a:t> specialized AI learning endpoints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964424" y="3383280"/>
            <a:ext cx="301752" cy="30175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964424" y="3392424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375904" y="3374136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Free model router: </a:t>
            </a:r>
            <a:r>
              <a:rPr lang="en-US" sz="1060" dirty="0">
                <a:solidFill>
                  <a:srgbClr val="0070C0"/>
                </a:solidFill>
              </a:rPr>
              <a:t>openrouter/free</a:t>
            </a:r>
          </a:p>
        </p:txBody>
      </p:sp>
      <p:sp>
        <p:nvSpPr>
          <p:cNvPr id="46" name="Shape 44"/>
          <p:cNvSpPr/>
          <p:nvPr/>
        </p:nvSpPr>
        <p:spPr>
          <a:xfrm>
            <a:off x="7964424" y="4041648"/>
            <a:ext cx="301752" cy="30175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964424" y="4050792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75904" y="4032504"/>
            <a:ext cx="2304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63746"/>
                </a:solidFill>
              </a:rPr>
              <a:t>No database state required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7964424" y="4745736"/>
            <a:ext cx="2788920" cy="0"/>
          </a:xfrm>
          <a:prstGeom prst="line">
            <a:avLst/>
          </a:prstGeom>
          <a:noFill/>
          <a:ln w="1143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955280" y="48920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RestClient → chat completions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" y="5623560"/>
            <a:ext cx="10899648" cy="393192"/>
          </a:xfrm>
          <a:prstGeom prst="roundRect">
            <a:avLst>
              <a:gd name="adj" fmla="val 13953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60120" y="5733288"/>
            <a:ext cx="10360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</a:rPr>
              <a:t>HTTP request → Controller → Service / transaction → Database commit → Event → Async listener → External service</a:t>
            </a:r>
            <a:endParaRPr lang="en-US" sz="101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6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B820A7D-4D3A-F1FF-09AE-DE9CFA9D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02" y="2007619"/>
            <a:ext cx="538119" cy="53811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6D0C2D2-2E90-1566-AD2A-90E477CD1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655" y="2063609"/>
            <a:ext cx="426141" cy="42614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CE24E34-2C1A-D479-1849-A69B43D02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379" y="2027085"/>
            <a:ext cx="462665" cy="46266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6521F57-A189-102A-7131-CD8C5FDF0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917" y="1950695"/>
            <a:ext cx="625030" cy="62503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F4672FB-9ADA-8EF0-6CF3-8479B3C4E2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9038" y="2053548"/>
            <a:ext cx="517166" cy="517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64506"/>
            <a:ext cx="676467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EF5B52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EF5B52"/>
                </a:solidFill>
                <a:latin typeface="Aptos"/>
              </a:rPr>
              <a:t>5</a:t>
            </a:r>
            <a:r>
              <a:rPr sz="900" b="1" dirty="0">
                <a:solidFill>
                  <a:srgbClr val="EF5B52"/>
                </a:solidFill>
                <a:latin typeface="Aptos"/>
              </a:rPr>
              <a:t>  CORE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2992" y="320040"/>
            <a:ext cx="530352" cy="228600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2992" y="321868"/>
            <a:ext cx="530352" cy="22494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320040"/>
            <a:ext cx="530352" cy="228600"/>
          </a:xfrm>
          <a:prstGeom prst="roundRect">
            <a:avLst>
              <a:gd name="adj" fmla="val 8000"/>
            </a:avLst>
          </a:prstGeom>
          <a:solidFill>
            <a:srgbClr val="F2C94C"/>
          </a:solidFill>
          <a:ln w="1016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34326" y="378939"/>
            <a:ext cx="224420" cy="110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 dirty="0">
                <a:solidFill>
                  <a:schemeClr val="bg1"/>
                </a:solidFill>
                <a:latin typeface="Aptos"/>
              </a:rPr>
              <a:t>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320040"/>
            <a:ext cx="530352" cy="22860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1016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39728" y="321868"/>
            <a:ext cx="530352" cy="22494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7512"/>
            <a:ext cx="905256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0B1F33"/>
                </a:solidFill>
                <a:latin typeface="Aptos Display"/>
              </a:rPr>
              <a:t>Core Endpoints 01–08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43584"/>
            <a:ext cx="100584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80" b="0">
                <a:solidFill>
                  <a:srgbClr val="667085"/>
                </a:solidFill>
                <a:latin typeface="Aptos"/>
              </a:rPr>
              <a:t>Discovery, instructor trust, curriculum access, enrollment, and completion.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63624"/>
            <a:ext cx="11155680" cy="16459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504" y="171907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81051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01 /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6672" y="181051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76672" y="181234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091410"/>
            <a:ext cx="214853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/api/v1/courses/level/{level}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235915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10512" y="2450301"/>
            <a:ext cx="162063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Find courses by JLPT level (N5–N1).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252374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252100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 dirty="0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171907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181051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02 /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45952" y="181051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45952" y="181234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091410"/>
            <a:ext cx="308469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/api/v1/courses/instructor/{instructorId}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235915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9792" y="2471512"/>
            <a:ext cx="173765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List courses created by an instructor.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7376" y="252374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7376" y="252100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281635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290779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03 /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6672" y="290779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76672" y="290962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188690"/>
            <a:ext cx="338374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/api/v1/courses/price?maxPrice={maxPrice}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" y="345643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04416" y="3547580"/>
            <a:ext cx="204062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Filter courses at or below a maximum price.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" y="362102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" y="361828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281635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37376" y="290779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04 / 15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45952" y="290779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045952" y="290962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3188690"/>
            <a:ext cx="315047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/api/v1/instructors/{id}/freelance-license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345643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73696" y="3578661"/>
            <a:ext cx="2114361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Retrieve verified freelance certificate details.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37376" y="362102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37376" y="361828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3913631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" y="400507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05 / 15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6672" y="400507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6672" y="400690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285969"/>
            <a:ext cx="261873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/api/v1/lessons/course/{courseId}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455371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04416" y="4652174"/>
            <a:ext cx="223939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Return ordered curriculum lessons for a course.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" y="4718303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8096" y="471556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2784" y="3913631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37376" y="400507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06 / 15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045952" y="400507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F2C94C"/>
          </a:solidFill>
          <a:ln w="1016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208062" y="4068543"/>
            <a:ext cx="224420" cy="110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 dirty="0">
                <a:solidFill>
                  <a:schemeClr val="bg1"/>
                </a:solidFill>
                <a:latin typeface="Aptos"/>
              </a:rPr>
              <a:t>POST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37376" y="4285969"/>
            <a:ext cx="261379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/api/v1/enrollments/{id}/complete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37376" y="455371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16368" y="4676698"/>
            <a:ext cx="233397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Complete learning at 100% and issue a certificate.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37376" y="4718303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37376" y="471556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501091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510235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07 / 15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76672" y="510235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76672" y="510418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" y="5383250"/>
            <a:ext cx="256172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/api/v1/enrollments/user/{userId}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" y="565099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804416" y="5754942"/>
            <a:ext cx="172002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View all active and past enrollments.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8096" y="5815583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8096" y="581284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72784" y="501091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37376" y="510235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08 / 15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045952" y="510235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45952" y="510418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37376" y="5383250"/>
            <a:ext cx="307712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/api/v1/enrollments/user/{userId}/active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37376" y="565099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16368" y="5786032"/>
            <a:ext cx="166231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Show only currently active courses.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37376" y="5815583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37376" y="581284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" y="6053328"/>
            <a:ext cx="10972800" cy="310896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1520" y="6062472"/>
            <a:ext cx="106984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69" b="0" dirty="0">
                <a:solidFill>
                  <a:srgbClr val="667085"/>
                </a:solidFill>
                <a:latin typeface="Aptos"/>
              </a:rPr>
              <a:t>Covers the learner journey from finding a course to enrolling and completing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64506"/>
            <a:ext cx="676467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EF5B52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EF5B52"/>
                </a:solidFill>
                <a:latin typeface="Aptos"/>
              </a:rPr>
              <a:t>5</a:t>
            </a:r>
            <a:r>
              <a:rPr sz="900" b="1" dirty="0">
                <a:solidFill>
                  <a:srgbClr val="EF5B52"/>
                </a:solidFill>
                <a:latin typeface="Aptos"/>
              </a:rPr>
              <a:t>  CORE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2992" y="320040"/>
            <a:ext cx="530352" cy="228600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2992" y="321868"/>
            <a:ext cx="530352" cy="224942"/>
          </a:xfrm>
          <a:prstGeom prst="rect">
            <a:avLst/>
          </a:prstGeom>
          <a:solidFill>
            <a:srgbClr val="2E7D63"/>
          </a:solidFill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320040"/>
            <a:ext cx="530352" cy="228600"/>
          </a:xfrm>
          <a:prstGeom prst="roundRect">
            <a:avLst>
              <a:gd name="adj" fmla="val 8000"/>
            </a:avLst>
          </a:prstGeom>
          <a:solidFill>
            <a:srgbClr val="F2C94C"/>
          </a:solidFill>
          <a:ln w="1016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34326" y="378939"/>
            <a:ext cx="224420" cy="110800"/>
          </a:xfrm>
          <a:prstGeom prst="rect">
            <a:avLst/>
          </a:prstGeom>
          <a:solidFill>
            <a:srgbClr val="F2C94C"/>
          </a:solidFill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 dirty="0">
                <a:solidFill>
                  <a:schemeClr val="bg1"/>
                </a:solidFill>
                <a:latin typeface="Aptos"/>
              </a:rPr>
              <a:t>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320040"/>
            <a:ext cx="530352" cy="228600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1016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39728" y="321868"/>
            <a:ext cx="530352" cy="224942"/>
          </a:xfrm>
          <a:prstGeom prst="rect">
            <a:avLst/>
          </a:prstGeom>
          <a:solidFill>
            <a:srgbClr val="4A90E2"/>
          </a:solidFill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7512"/>
            <a:ext cx="905256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0B1F33"/>
                </a:solidFill>
                <a:latin typeface="Aptos Display"/>
              </a:rPr>
              <a:t>Core Endpoints 09–15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43584"/>
            <a:ext cx="100584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80" b="0">
                <a:solidFill>
                  <a:srgbClr val="667085"/>
                </a:solidFill>
                <a:latin typeface="Aptos"/>
              </a:rPr>
              <a:t>Enrollment management, reviews, certificates, verification, and learner segmentation.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63624"/>
            <a:ext cx="11155680" cy="16459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504" y="171907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81051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09 /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6672" y="181051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4A90E2"/>
          </a:solidFill>
          <a:ln w="1016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76672" y="181234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091410"/>
            <a:ext cx="40545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/api/v1/enrollments/{id}/cancel?requestingAdminId=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235915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29968" y="2477016"/>
            <a:ext cx="207749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Admin-only enrollment cancellation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2523744"/>
            <a:ext cx="1097280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2521000"/>
            <a:ext cx="109728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Admin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171907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181051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10 /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45952" y="181051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45952" y="181234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091410"/>
            <a:ext cx="337868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/api/v1/enrollments/user/{userId}/cancelled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235915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466760"/>
            <a:ext cx="136896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Show cancelled enrollments.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7376" y="252374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7376" y="252100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281635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290779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11 /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6672" y="290779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76672" y="290962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188690"/>
            <a:ext cx="260353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/api/v1/reviews/course/{courseId}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" y="345643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87296" y="3564040"/>
            <a:ext cx="192360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Retrieve reviews and ratings for a course.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" y="362102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" y="361828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281635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37376" y="2907792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12 / 15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45952" y="2907792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045952" y="290962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3188690"/>
            <a:ext cx="227049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/api/v1/reviews/rating/{rating}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345643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73696" y="3599701"/>
            <a:ext cx="144430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Filter feedback by rating score.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37376" y="3621024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37376" y="361828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3913631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" y="400507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13 / 15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6672" y="400507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6672" y="400690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285969"/>
            <a:ext cx="2500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/api/v1/certificates/user/{userId}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455371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936880" y="4685283"/>
            <a:ext cx="167834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List certificates earned by a learner.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" y="4718303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8096" y="471556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2784" y="3913631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37376" y="400507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14 / 15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045952" y="400507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045952" y="400690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37376" y="4285969"/>
            <a:ext cx="351525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/api/v1/certificates/verify/{certificateNumber}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37376" y="455371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16368" y="4677588"/>
            <a:ext cx="1659109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Publicly verify a certificate number.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37376" y="4718303"/>
            <a:ext cx="896112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37376" y="4715560"/>
            <a:ext cx="896112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Public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5010912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5102351"/>
            <a:ext cx="65836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EF5B52"/>
                </a:solidFill>
                <a:latin typeface="Aptos"/>
              </a:rPr>
              <a:t>15 / 15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76672" y="5102351"/>
            <a:ext cx="548640" cy="237744"/>
          </a:xfrm>
          <a:prstGeom prst="roundRect">
            <a:avLst>
              <a:gd name="adj" fmla="val 8000"/>
            </a:avLst>
          </a:prstGeom>
          <a:solidFill>
            <a:srgbClr val="2E7D63"/>
          </a:solidFill>
          <a:ln w="1016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76672" y="5104180"/>
            <a:ext cx="548640" cy="2340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" y="5383250"/>
            <a:ext cx="361496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63746"/>
                </a:solidFill>
                <a:latin typeface="Aptos"/>
              </a:rPr>
              <a:t>/api/v1/users/level/{level}?requestingAdminId=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" y="5650992"/>
            <a:ext cx="5157216" cy="10972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069862" y="5751284"/>
            <a:ext cx="230672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latin typeface="Aptos"/>
              </a:rPr>
              <a:t>Admin-only user segmentation by Japanese level.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8096" y="5815583"/>
            <a:ext cx="1097280" cy="155448"/>
          </a:xfrm>
          <a:prstGeom prst="roundRect">
            <a:avLst>
              <a:gd name="adj" fmla="val 8000"/>
            </a:avLst>
          </a:prstGeom>
          <a:solidFill>
            <a:srgbClr val="E5F0EB"/>
          </a:solidFill>
          <a:ln w="10160">
            <a:solidFill>
              <a:srgbClr val="E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8096" y="5812840"/>
            <a:ext cx="109728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70" b="1">
                <a:solidFill>
                  <a:srgbClr val="2E7D63"/>
                </a:solidFill>
                <a:latin typeface="Aptos"/>
              </a:rPr>
              <a:t>Admin only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3504" y="6053328"/>
            <a:ext cx="10972800" cy="310896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062472"/>
            <a:ext cx="106984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69" b="0">
                <a:solidFill>
                  <a:srgbClr val="667085"/>
                </a:solidFill>
                <a:latin typeface="Aptos"/>
              </a:rPr>
              <a:t>Extends the learning workflow with cancellation, feedback, certification, verification, and admin 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EF5B52"/>
                </a:solidFill>
                <a:latin typeface="Aptos"/>
              </a:rPr>
              <a:t>06</a:t>
            </a:r>
            <a:r>
              <a:rPr sz="900" b="1" dirty="0">
                <a:solidFill>
                  <a:srgbClr val="EF5B52"/>
                </a:solidFill>
                <a:latin typeface="Aptos"/>
              </a:rPr>
              <a:t>  EXTRA API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Endpoints 01–04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AI learning assistance — language foundations and interactive practice.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86416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7D63"/>
          </a:solidFill>
          <a:ln w="12700">
            <a:solidFill>
              <a:srgbClr val="DDEF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86416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chemeClr val="bg1"/>
                </a:solidFill>
              </a:rPr>
              <a:t>GET</a:t>
            </a:r>
            <a:endParaRPr lang="en-US" sz="73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44784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2C94C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844784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POST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1503152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A90E2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503152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PUT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21792" y="1901952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8638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01 / 14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30952" y="2002536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30952" y="20345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2313432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/api/v1/ai/explain-kanji?kanji=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2779776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Explain Onyomi, Kunyomi, JLPT level, and examples (to explain Kanji)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334670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" y="33787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86384" y="2688336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199632" y="1901952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36422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02 / 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908792" y="2002536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908792" y="20345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64224" y="2313432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/api/v1/ai/generate-quiz?level=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64224" y="2779776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Generate a 3-question grammar quiz with answers based on JLPT level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64224" y="334670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19088" y="33787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364224" y="2688336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21792" y="3858768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86384" y="3977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03 / 14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03520" y="3959352"/>
            <a:ext cx="530352" cy="228600"/>
          </a:xfrm>
          <a:prstGeom prst="roundRect">
            <a:avLst>
              <a:gd name="adj" fmla="val 24000"/>
            </a:avLst>
          </a:prstGeom>
          <a:solidFill>
            <a:srgbClr val="F2C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303520" y="399135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6384" y="427024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/api/v1/ai/check-grammar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" y="473659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Correct, assess formality, and explain sentence issues.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" y="5303520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1248" y="533552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86384" y="4645152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199632" y="3858768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364224" y="3977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04 / 14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908792" y="3959352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0908792" y="3991356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64224" y="427024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/api/v1/ai/dialogue?scenario=&amp;level=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64224" y="473659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Generate a four-line Japanese roleplay dialogue.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4224" y="5303520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19088" y="533552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6364224" y="4645152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21792" y="6099048"/>
            <a:ext cx="10972800" cy="301752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D9E1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04672" y="6190488"/>
            <a:ext cx="10588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67085"/>
                </a:solidFill>
              </a:rPr>
              <a:t>These endpoints turn AI into a practical language-learning companion inside the same API.</a:t>
            </a:r>
            <a:endParaRPr lang="en-US" sz="84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EF5B52"/>
                </a:solidFill>
                <a:latin typeface="Aptos"/>
              </a:rPr>
              <a:t>06</a:t>
            </a:r>
            <a:r>
              <a:rPr sz="900" b="1" dirty="0">
                <a:solidFill>
                  <a:srgbClr val="EF5B52"/>
                </a:solidFill>
                <a:latin typeface="Aptos"/>
              </a:rPr>
              <a:t>  EXTRA API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Endpoints 05–08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Vocabulary, culture, custom prompting, and Arabic–Japanese bridging.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86416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7D63"/>
          </a:solidFill>
          <a:ln w="12700">
            <a:solidFill>
              <a:srgbClr val="DDEF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86416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chemeClr val="bg1"/>
                </a:solidFill>
              </a:rPr>
              <a:t>GET</a:t>
            </a:r>
            <a:endParaRPr lang="en-US" sz="73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44784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2C94C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844784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POST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1503152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A90E2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503152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PUT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21792" y="1901952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8638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05 / 14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30952" y="2002536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5330952" y="20345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2313432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/api/v1/ai/themed-vocab?theme=&amp;level=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2779776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Generate themed JLPT vocabulary with examples.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334670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" y="33787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86384" y="2688336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199632" y="1901952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36422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06 / 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908792" y="2002536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908792" y="20345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64224" y="2313432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/api/v1/ai/culture-guide?topic=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64224" y="2779776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Explain cultural etiquette with relevant vocabulary.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64224" y="334670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19088" y="33787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364224" y="2688336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21792" y="3858768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86384" y="3977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07 / 14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03520" y="3959352"/>
            <a:ext cx="530352" cy="228600"/>
          </a:xfrm>
          <a:prstGeom prst="roundRect">
            <a:avLst>
              <a:gd name="adj" fmla="val 24000"/>
            </a:avLst>
          </a:prstGeom>
          <a:solidFill>
            <a:srgbClr val="F2C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303520" y="399135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6384" y="427024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/api/v1/ai/generate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" y="473659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Generate AI text from a custom prompt.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" y="5303520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1248" y="533552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86384" y="4645152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199632" y="3858768"/>
            <a:ext cx="53949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364224" y="3977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08 / 14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881360" y="3959352"/>
            <a:ext cx="530352" cy="228600"/>
          </a:xfrm>
          <a:prstGeom prst="roundRect">
            <a:avLst>
              <a:gd name="adj" fmla="val 24000"/>
            </a:avLst>
          </a:prstGeom>
          <a:solidFill>
            <a:srgbClr val="F2C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0881360" y="399135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64224" y="427024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/api/v1/ai/arabic-bridge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64224" y="473659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Bridge an Arabic concept to its closest Japanese expression.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4224" y="5303520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19088" y="533552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6364224" y="4645152"/>
            <a:ext cx="506577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21792" y="6099048"/>
            <a:ext cx="10972800" cy="301752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D9E1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04672" y="6190488"/>
            <a:ext cx="10588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67085"/>
                </a:solidFill>
              </a:rPr>
              <a:t>The Arabic–Japanese bridge is designed to reduce cultural and linguistic friction for local learners.</a:t>
            </a:r>
            <a:endParaRPr lang="en-US" sz="84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EF5B52"/>
                </a:solidFill>
                <a:latin typeface="Aptos"/>
              </a:rPr>
              <a:t>06</a:t>
            </a:r>
            <a:r>
              <a:rPr sz="900" b="1" dirty="0">
                <a:solidFill>
                  <a:srgbClr val="EF5B52"/>
                </a:solidFill>
                <a:latin typeface="Aptos"/>
              </a:rPr>
              <a:t>  EXTRA API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Endpoints 09–11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Business Japanese, Kanji analysis, and personalized study planning.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86416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7D63"/>
          </a:solidFill>
          <a:ln w="12700">
            <a:solidFill>
              <a:srgbClr val="DDEFFA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10186416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chemeClr val="bg1"/>
                </a:solidFill>
              </a:rPr>
              <a:t>GET</a:t>
            </a:r>
            <a:endParaRPr lang="en-US" sz="73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44784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2C94C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844784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POST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1503152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A90E2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503152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PUT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21792" y="1901952"/>
            <a:ext cx="1097280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8638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09 / 14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0" y="2002536"/>
            <a:ext cx="530352" cy="228600"/>
          </a:xfrm>
          <a:prstGeom prst="roundRect">
            <a:avLst>
              <a:gd name="adj" fmla="val 24000"/>
            </a:avLst>
          </a:prstGeom>
          <a:solidFill>
            <a:srgbClr val="F2C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881360" y="20345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86384" y="2313432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/api/v1/ai/keigo-converter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91056" y="2788921"/>
            <a:ext cx="1064361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Convert Japanese into Sonkeigo and Kenjougo forms ( polite/business forms).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79806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" y="283006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86384" y="2688336"/>
            <a:ext cx="1064361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1792" y="3255264"/>
            <a:ext cx="1097280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86384" y="3374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10 / 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908792" y="3355848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908792" y="3387852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" y="3666744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/api/v1/ai/kanji-radicals?kanji=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91056" y="4140831"/>
            <a:ext cx="10643616" cy="24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Break a Kanji into radicals, symbols, and meanings.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6384" y="415137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1248" y="418338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86384" y="4041648"/>
            <a:ext cx="1064361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21792" y="4608576"/>
            <a:ext cx="1097280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86384" y="47274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11 / 14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08792" y="4709160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908792" y="474116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86384" y="5020056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/api/v1/ai/study-plan?level=&amp;weeks=&amp;focus=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91056" y="5495544"/>
            <a:ext cx="10643616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Build a multi-week JLPT study plan.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" y="5504688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1248" y="55366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86384" y="5394960"/>
            <a:ext cx="1064361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21792" y="6099048"/>
            <a:ext cx="10972800" cy="301752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D9E1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04672" y="6190488"/>
            <a:ext cx="10588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67085"/>
                </a:solidFill>
              </a:rPr>
              <a:t>Keigo, Kanji radicals, and study planning extend the platform beyond basic content delivery.</a:t>
            </a:r>
            <a:endParaRPr lang="en-US" sz="84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EF5B52"/>
                </a:solidFill>
                <a:latin typeface="Aptos"/>
              </a:rPr>
              <a:t>06</a:t>
            </a:r>
            <a:r>
              <a:rPr sz="900" b="1" dirty="0">
                <a:solidFill>
                  <a:srgbClr val="EF5B52"/>
                </a:solidFill>
                <a:latin typeface="Aptos"/>
              </a:rPr>
              <a:t>  EXTRA API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Endpoints 12–14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Reading, instructor support, and WhatsApp notification automation.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37392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86416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7D63"/>
          </a:solidFill>
          <a:ln w="12700">
            <a:solidFill>
              <a:srgbClr val="DDEF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86416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chemeClr val="bg1"/>
                </a:solidFill>
              </a:rPr>
              <a:t>GET</a:t>
            </a:r>
            <a:endParaRPr lang="en-US" sz="73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44784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2C94C"/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844784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POST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1503152" y="3200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A90E2"/>
          </a:solidFill>
          <a:ln w="12700">
            <a:solidFill>
              <a:srgbClr val="5FA7A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503152" y="3611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PUT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21792" y="1901952"/>
            <a:ext cx="1097280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8638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12 / 14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08792" y="2002536"/>
            <a:ext cx="502920" cy="228600"/>
          </a:xfrm>
          <a:prstGeom prst="roundRect">
            <a:avLst>
              <a:gd name="adj" fmla="val 24000"/>
            </a:avLst>
          </a:prstGeom>
          <a:solidFill>
            <a:srgbClr val="2E7D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908792" y="20345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GET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2313432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/api/v1/ai/reading-passage?level=&amp;topic=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6112" y="2788879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Generate reading text, furigana, translation, and questions (short reading passage)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79806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" y="283006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86384" y="2688336"/>
            <a:ext cx="1064361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1792" y="3255264"/>
            <a:ext cx="1097280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86384" y="3374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13 / 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881360" y="3355848"/>
            <a:ext cx="530352" cy="228600"/>
          </a:xfrm>
          <a:prstGeom prst="roundRect">
            <a:avLst>
              <a:gd name="adj" fmla="val 24000"/>
            </a:avLst>
          </a:prstGeom>
          <a:solidFill>
            <a:srgbClr val="F2C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881360" y="3387852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86384" y="3666744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/api/v1/ai/lesson-plan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6112" y="4119371"/>
            <a:ext cx="10643616" cy="24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Build a 45-minute instructor lesson plan.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6384" y="415137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1248" y="418338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AI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86384" y="4041648"/>
            <a:ext cx="1064361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21792" y="4608576"/>
            <a:ext cx="1097280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86384" y="47274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5B52"/>
                </a:solidFill>
              </a:rPr>
              <a:t>14 / 14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36224" y="4709160"/>
            <a:ext cx="475488" cy="228600"/>
          </a:xfrm>
          <a:prstGeom prst="roundRect">
            <a:avLst>
              <a:gd name="adj" fmla="val 24000"/>
            </a:avLst>
          </a:prstGeom>
          <a:solidFill>
            <a:srgbClr val="4A90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936224" y="47411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6384" y="5020056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/api/v1/users/{id}/phone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011680" y="5504688"/>
            <a:ext cx="1064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to update phone number and notify through WhatsApp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" y="5504688"/>
            <a:ext cx="1060704" cy="182880"/>
          </a:xfrm>
          <a:prstGeom prst="roundRect">
            <a:avLst>
              <a:gd name="adj" fmla="val 20000"/>
            </a:avLst>
          </a:prstGeom>
          <a:solidFill>
            <a:srgbClr val="2E7D63">
              <a:alpha val="13000"/>
            </a:srgbClr>
          </a:solidFill>
          <a:ln w="12700">
            <a:solidFill>
              <a:srgbClr val="2E7D6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1248" y="5536692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E7D63"/>
                </a:solidFill>
              </a:rPr>
              <a:t>WhatsApp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86384" y="5394960"/>
            <a:ext cx="10643616" cy="0"/>
          </a:xfrm>
          <a:prstGeom prst="line">
            <a:avLst/>
          </a:prstGeom>
          <a:noFill/>
          <a:ln w="1016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21792" y="6099048"/>
            <a:ext cx="10972800" cy="301752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D9E1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04672" y="6190488"/>
            <a:ext cx="10588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67085"/>
                </a:solidFill>
              </a:rPr>
              <a:t>Reading support serves learners; lesson plans serve instructors; phone updates trigger WhatsApp confirmation.</a:t>
            </a:r>
            <a:endParaRPr lang="en-US" sz="84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00">
                <a:solidFill>
                  <a:srgbClr val="66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627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F5B5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8096" y="2061972"/>
            <a:ext cx="685800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77239" y="5422392"/>
            <a:ext cx="19000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5B52"/>
                </a:solidFill>
              </a:rPr>
              <a:t>Project repository</a:t>
            </a:r>
            <a:endParaRPr lang="en-US" dirty="0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777240" y="5809025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uFill>
                  <a:solidFill>
                    <a:srgbClr val="FFFFFF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github.com/fadhelalmalki/jisr-nihongo-platform</a:t>
            </a:r>
            <a:endParaRPr lang="en-US" sz="16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3ED5B1-F53C-3C7C-489B-6065E1386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761" y="273940"/>
            <a:ext cx="4028172" cy="2567477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A0FFE41A-44E6-38A1-FAFF-0E3E36D04DCD}"/>
              </a:ext>
            </a:extLst>
          </p:cNvPr>
          <p:cNvSpPr/>
          <p:nvPr/>
        </p:nvSpPr>
        <p:spPr>
          <a:xfrm>
            <a:off x="2604083" y="2783418"/>
            <a:ext cx="6983528" cy="22818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600" b="1" dirty="0"/>
              <a:t>Thank You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1300</Words>
  <Application>Microsoft Office PowerPoint</Application>
  <PresentationFormat>Widescreen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Yu Gothic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Fadhel Almalki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Jisr 日本語プラットフォーム</dc:title>
  <dc:subject>Jisr 日本語プラットフォーム – Project Presentation</dc:subject>
  <dc:creator>Fadhel Almalki</dc:creator>
  <cp:lastModifiedBy>FADHEL ABDULRAHMAN ABDULRAHMAN ALMALKI</cp:lastModifiedBy>
  <cp:revision>3</cp:revision>
  <dcterms:created xsi:type="dcterms:W3CDTF">2026-09-27T21:16:18Z</dcterms:created>
  <dcterms:modified xsi:type="dcterms:W3CDTF">2026-09-28T00:16:44Z</dcterms:modified>
</cp:coreProperties>
</file>